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7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13716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164592"/>
            <a:ext cx="3566160" cy="713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960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4E0"/>
                </a:solidFill>
              </a:rPr>
              <a:t>Международная стажировочная сессия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65760" y="14173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Здравоохранение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Восточной Азии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36576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54F"/>
                </a:solidFill>
              </a:rPr>
              <a:t>Республика Корея • Сеул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65760" y="3383280"/>
            <a:ext cx="164592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4E0"/>
                </a:solidFill>
              </a:rPr>
              <a:t>13 – 17 апреля 2026 года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576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BBF"/>
                </a:solidFill>
              </a:rPr>
              <a:t>Для руководителей здравоохранения Российской Федерации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ЦЕЛЬ И ФОРМАТ МЕРОПРИЯТИЯ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</a:rPr>
              <a:t>Основная цель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Изучение передового опыта организации медицинской помощи, внедрения цифровых технологий и систем искусственного интеллекта в ведущих клиниках Южной Кореи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31720"/>
            <a:ext cx="2651760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774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</a:rPr>
              <a:t>Профессиональные визиты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4015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278"/>
                </a:solidFill>
              </a:rPr>
              <a:t>Посещение медицинских учреждений 3-го уровня — ведущих клиник страны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2331720"/>
            <a:ext cx="2651760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3774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</a:rPr>
              <a:t>Круглые столы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83280" y="34015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278"/>
                </a:solidFill>
              </a:rPr>
              <a:t>Встречи и дискуссии с корейскими коллегами и экспертами здравоохранения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2331720"/>
            <a:ext cx="2651760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3774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</a:rPr>
              <a:t>Обход подразделений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09360" y="34015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278"/>
                </a:solidFill>
              </a:rPr>
              <a:t>Детальное ознакомление с отделениями и инфраструктурой клиник изнутри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СОСТАВ ДЕЛЕГАЦИИ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286000" cy="2286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15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руководителей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здравоохранения РФ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914400"/>
            <a:ext cx="59436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9601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20440" y="914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Руководитель делегации — Министр здравоохранения Республики Татарстан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834640" y="18288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Регионы-участники: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2402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22128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Республика Татарстан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5877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54680" y="2560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Московская область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93522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154680" y="29077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Краснодарский край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24028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172200" y="22128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Новосибирская область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58775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72200" y="2560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Республика Дагестан</a:t>
            </a:r>
            <a:endParaRPr lang="en-US" sz="11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35224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172200" y="29077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Другие регионы РФ</a:t>
            </a:r>
            <a:endParaRPr lang="en-US" sz="11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3291840"/>
            <a:ext cx="8412480" cy="16459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365760" y="3291840"/>
            <a:ext cx="8412480" cy="1645920"/>
          </a:xfrm>
          <a:prstGeom prst="rect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1A3A5C">
                <a:alpha val="70000"/>
              </a:srgbClr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DDEE"/>
                </a:solidFill>
              </a:rPr>
              <a:t>Делегация на встрече в госпитале «Ильсан» (Ильсан, апрель 2026)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ПРОГРАММА СТАЖИРОВКИ • 13–17 АПРЕЛЯ 2026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600200" cy="548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13 апр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38F"/>
                </a:solidFill>
              </a:rPr>
              <a:t>Прибытие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2148840"/>
            <a:ext cx="1463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278"/>
                </a:solidFill>
              </a:rPr>
              <a:t>Размещение в отеле Novotel Ambassador Seoul Yongsan 5★. Вводная культурная программа — дворец Кёнбоккун, костюмы ханбок.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57400" y="91440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914400"/>
            <a:ext cx="16002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914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14 апр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0552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Госпиталь Myongji + NHIS Ильсан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30552" y="2148840"/>
            <a:ext cx="1463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278"/>
                </a:solidFill>
              </a:rPr>
              <a:t>AI Smart Rehabilitation &amp; Sports Medicine Center. Система I-SMART и корейская модель медицинского страхования.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94760" y="91440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94760" y="914400"/>
            <a:ext cx="160020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914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15 апр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67912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1B9A"/>
                </a:solidFill>
              </a:rPr>
              <a:t>SNUBH + CHA Bundang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67912" y="2148840"/>
            <a:ext cx="1463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278"/>
                </a:solidFill>
              </a:rPr>
              <a:t>«Умная больница», EMR BESTCare (HIMSS Stage 7). Женское здоровье, онкология, Patient Journey.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32120" y="91440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914400"/>
            <a:ext cx="1600200" cy="548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914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16 апр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05272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935"/>
                </a:solidFill>
              </a:rPr>
              <a:t>K-Medical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05272" y="2148840"/>
            <a:ext cx="1463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278"/>
                </a:solidFill>
              </a:rPr>
              <a:t>Финальное закрепление навыков работы с цифровыми системами управления медицинскими данными.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69480" y="91440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9480" y="914400"/>
            <a:ext cx="1600200" cy="5486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914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17 апр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42632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</a:rPr>
              <a:t>Отъезд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42632" y="2148840"/>
            <a:ext cx="1463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278"/>
                </a:solidFill>
              </a:rPr>
              <a:t>Подведение итогов. Обмен контактами. Завершение программы и возвращение делегации.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ДЕНЬ 1 ВИЗИТОВ • 14 АПРЕЛЯ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0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14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Госпиталь Myongji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AI Smart Rehabilitation &amp; Sports Medicine Center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29968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→ </a:t>
            </a:r>
            <a:r>
              <a:rPr lang="en-US" sz="1100" dirty="0">
                <a:solidFill>
                  <a:srgbClr val="1C2B3A"/>
                </a:solidFill>
              </a:rPr>
              <a:t>AI-технологии в реабилитации пациентов
</a:t>
            </a:r>
            <a:r>
              <a:rPr lang="en-US" sz="1100" b="1" dirty="0">
                <a:solidFill>
                  <a:srgbClr val="00838F"/>
                </a:solidFill>
              </a:rPr>
              <a:t>→ </a:t>
            </a:r>
            <a:r>
              <a:rPr lang="en-US" sz="1100" dirty="0">
                <a:solidFill>
                  <a:srgbClr val="1C2B3A"/>
                </a:solidFill>
              </a:rPr>
              <a:t>Роботизированные системы восстановительного лечения
</a:t>
            </a:r>
            <a:r>
              <a:rPr lang="en-US" sz="1100" b="1" dirty="0">
                <a:solidFill>
                  <a:srgbClr val="00838F"/>
                </a:solidFill>
              </a:rPr>
              <a:t>→ </a:t>
            </a:r>
            <a:r>
              <a:rPr lang="en-US" sz="1100" dirty="0">
                <a:solidFill>
                  <a:srgbClr val="1C2B3A"/>
                </a:solidFill>
              </a:rPr>
              <a:t>Диагностика с применением искусственного интеллекта
</a:t>
            </a:r>
            <a:r>
              <a:rPr lang="en-US" sz="1100" b="1" dirty="0">
                <a:solidFill>
                  <a:srgbClr val="00838F"/>
                </a:solidFill>
              </a:rPr>
              <a:t>→ </a:t>
            </a:r>
            <a:r>
              <a:rPr lang="en-US" sz="1100" dirty="0">
                <a:solidFill>
                  <a:srgbClr val="1C2B3A"/>
                </a:solidFill>
              </a:rPr>
              <a:t>Спортивная медицина экспертного уровня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14400"/>
            <a:ext cx="40233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509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914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Госпиталь NHIS • Ильсан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Система I-SMART и модель медстрахования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2029968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→ </a:t>
            </a:r>
            <a:r>
              <a:rPr lang="en-US" sz="1100" dirty="0">
                <a:solidFill>
                  <a:srgbClr val="1C2B3A"/>
                </a:solidFill>
              </a:rPr>
              <a:t>Национальная система медицинского страхования Кореи
</a:t>
            </a:r>
            <a:r>
              <a:rPr lang="en-US" sz="1100" b="1" dirty="0">
                <a:solidFill>
                  <a:srgbClr val="1565C0"/>
                </a:solidFill>
              </a:rPr>
              <a:t>→ </a:t>
            </a:r>
            <a:r>
              <a:rPr lang="en-US" sz="1100" dirty="0">
                <a:solidFill>
                  <a:srgbClr val="1C2B3A"/>
                </a:solidFill>
              </a:rPr>
              <a:t>Интеллектуальная система I-SMART
</a:t>
            </a:r>
            <a:r>
              <a:rPr lang="en-US" sz="1100" b="1" dirty="0">
                <a:solidFill>
                  <a:srgbClr val="1565C0"/>
                </a:solidFill>
              </a:rPr>
              <a:t>→ </a:t>
            </a:r>
            <a:r>
              <a:rPr lang="en-US" sz="1100" dirty="0">
                <a:solidFill>
                  <a:srgbClr val="1C2B3A"/>
                </a:solidFill>
              </a:rPr>
              <a:t>Эффективная модель управления потоками пациентов
</a:t>
            </a:r>
            <a:r>
              <a:rPr lang="en-US" sz="1100" b="1" dirty="0">
                <a:solidFill>
                  <a:srgbClr val="1565C0"/>
                </a:solidFill>
              </a:rPr>
              <a:t>→ </a:t>
            </a:r>
            <a:r>
              <a:rPr lang="en-US" sz="1100" dirty="0">
                <a:solidFill>
                  <a:srgbClr val="1C2B3A"/>
                </a:solidFill>
              </a:rPr>
              <a:t>Протоколы профилактической медицины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ДЕНЬ 2 ВИЗИТОВ • 15 АПРЕЛЯ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SNUBH — Больница Сеульского нац. университета, Бундан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754880" cy="41148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</a:rPr>
              <a:t>HIMSS STAGE 7 — Высший мировой уровень цифровизации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2140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08483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Концепция «Умная больница» — интеграция всех процессов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054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246888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EMR-система BESTCare: электронный документооборот в реальном времени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950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285292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Группа 2: Patient Journey Management на базе EMR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7355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323697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Обмен данными между отделениями в режиме онлайн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577840" y="914400"/>
            <a:ext cx="3200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577840" y="914400"/>
            <a:ext cx="3200400" cy="548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669280" y="914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CHA Bundang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Medical Center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669280" y="1554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</a:rPr>
              <a:t>Группа 1 — специализированный визит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04825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989320" y="2011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Женское здоровье и репродуктология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43230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989320" y="23957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Онкология и таргетная терапия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81635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989320" y="27797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Персонализированная медицина</a:t>
            </a:r>
            <a:endParaRPr lang="en-US" sz="10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200400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989320" y="3163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Интеграция AI в онкодиагностику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ЯРКИЕ МОМЕНТЫ СТАЖИРОВКИ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1148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160520"/>
            <a:ext cx="4114800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160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Обмен памятными подарками с корейскими коллегами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914400"/>
            <a:ext cx="4114800" cy="3840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54880" y="4160520"/>
            <a:ext cx="41148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0" y="4160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Совместное фото с командой принимающей клиники • Бундан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КЛЮЧЕВЫЕ НАПРАВЛЕНИЯ ОБМЕНА ОПЫТОМ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1828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51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</a:rPr>
              <a:t>Искусственный интеллект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5087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AI в реабилитации и диагностике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18928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Роботизированные системы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2276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Предиктивная аналитика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960120"/>
            <a:ext cx="502920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887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051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Цифровизация (EMR)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40680" y="15087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Real-time управление данными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40680" y="18928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BESTCare HIMSS Stage 7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40680" y="2276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Обмен данными между отделами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017520"/>
            <a:ext cx="502920" cy="18288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4612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1089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</a:rPr>
              <a:t>Менеджмент клиник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60120" y="3566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Организация работы 3-го уровня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960120" y="3950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Patient Journey Management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60120" y="43342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Управление потоками пациентов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84632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46320" y="3017520"/>
            <a:ext cx="502920" cy="18288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46120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40680" y="31089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4F"/>
                </a:solidFill>
              </a:rPr>
              <a:t>Страхование и финансирование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440680" y="3566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Корейская модель ОМС (NHIS)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40680" y="3950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Система I-SMART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40680" y="43342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• Экономика здравоохранения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1A3A5C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НЕТВОРКИНГ И КОМАНДНЫЙ ДУХ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3291840"/>
            <a:ext cx="8412480" cy="1645920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383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Корейские коллеги встретили делегацию традиционным жестом «сердечко» — символ тепла и взаимного уважения. Участники использовали неформальные встречи для укрепления связей между региональными министерствами и ведомствами РФ.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ИТОГИ И ДОСТИГНУТЫЕ РЕЗУЛЬТАТЫ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777240" cy="1691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777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61872" y="11430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</a:rPr>
              <a:t>Обмен контактами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94178" y="1554480"/>
            <a:ext cx="31583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Установлены прямые связи между российскими управленцами и ведущими корейскими клиниками</a:t>
            </a:r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05840"/>
            <a:ext cx="777240" cy="1691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777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42432" y="11430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</a:rPr>
              <a:t>Форматы сотрудничества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42432" y="1600200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Определены конкретные форматы дальнейшего взаимодействия РФ и Республики Корея в здравоохранении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777240" cy="1691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777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61872" y="30632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</a:rPr>
              <a:t>Цифровизация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61872" y="3520440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Получен практический опыт работы с системами BESTCare, I-SMART и AI-платформами</a:t>
            </a:r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114800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926080"/>
            <a:ext cx="777240" cy="1691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26080"/>
            <a:ext cx="777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42432" y="30632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</a:rPr>
              <a:t>Межрегиональный нетворкинг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42432" y="3520440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Укреплены связи между региональными министерствами и ведомствами здравоохранения РФ</a:t>
            </a:r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Стажировочная сессия «Здравоохранение Восточной Азии» • Сеул, 13–17 апреля 2026 • Российско-Китайская палата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576</Words>
  <Application>Microsoft Office PowerPoint</Application>
  <PresentationFormat>Экран (16:9)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Стажировочная сессия Сеул 2026</dc:title>
  <dc:subject>PptxGenJS Presentation</dc:subject>
  <dc:creator>PptxGenJS</dc:creator>
  <cp:lastModifiedBy>MSI-</cp:lastModifiedBy>
  <cp:revision>2</cp:revision>
  <dcterms:created xsi:type="dcterms:W3CDTF">2026-05-06T11:12:15Z</dcterms:created>
  <dcterms:modified xsi:type="dcterms:W3CDTF">2026-05-06T11:22:06Z</dcterms:modified>
</cp:coreProperties>
</file>